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DDC84"/>
                </a:solidFill>
                <a:latin typeface="Calibri"/>
              </a:rPr>
              <a:t>STUDI KASUS — PENGUJIAN PERANGKAT LUNAK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Test Execution &amp; Test Reporting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Pengujian Manual Aplikasi E-Commerce </a:t>
            </a:r>
            <a:r>
              <a:rPr sz="2800" b="1">
                <a:solidFill>
                  <a:srgbClr val="3DDC84"/>
                </a:solidFill>
                <a:latin typeface="Calibri"/>
              </a:rPr>
              <a:t>SauceDemo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Target Uji:  https://www.saucedemo.com/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3DDC84"/>
                </a:solidFill>
                <a:latin typeface="Calibri"/>
              </a:rPr>
              <a:t>94 Test Case  •  82 PASS / 12 FAIL  •  12 Bug Dilaporkan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B8C4D6"/>
                </a:solidFill>
                <a:latin typeface="Calibri"/>
              </a:rPr>
              <a:t>Sumber data: SauceDemo (Test Cases).xlsx  &amp;  SauceDemo (Bug Report).xlsx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B8C4D6"/>
                </a:solidFill>
                <a:latin typeface="Calibri"/>
              </a:rPr>
              <a:t>Tim: Zaki &amp; Galih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Alur dokumen pengujian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25880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Tentang Aplikasi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Eksplorasi SauceDemo &amp; fitur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25880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325880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Scope &amp; Modul Uji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5 modul: Login, Home, Cart, Checkout, Footer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33472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33472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33472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33472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Test Case Summary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94 case — rekap per modul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633472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633472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33472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633472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Test Execution Result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Pass rate &amp; status per modul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41064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41064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41064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41064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Bug Report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12 bug — severity &amp; priority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941064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41064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941064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941064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Bug Kritis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3 bug priority 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48656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48656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48656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248656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Analisis Kualitas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Dampak, risiko, retesting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248656"/>
            <a:ext cx="548640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248656"/>
            <a:ext cx="109728" cy="1143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248656"/>
            <a:ext cx="10058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B4D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248656"/>
            <a:ext cx="411480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Release Recommendation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GO / Conditional / NO-GO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Tentang Aplikasi: SauceDemo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Eksplorasi &amp; identifikasi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SauceDemo (Swag Labs) adalah aplikasi web simulasi </a:t>
            </a:r>
            <a:r>
              <a:rPr sz="1300" b="1">
                <a:solidFill>
                  <a:srgbClr val="132B4D"/>
                </a:solidFill>
                <a:latin typeface="Calibri"/>
              </a:rPr>
              <a:t>e-commerce</a:t>
            </a:r>
            <a:r>
              <a:rPr sz="1300" b="0">
                <a:solidFill>
                  <a:srgbClr val="1A1A2E"/>
                </a:solidFill>
                <a:latin typeface="Calibri"/>
              </a:rPr>
              <a:t> dari Sauce Labs untuk latihan pengujian. Menyediakan beberapa akun yang memunculkan perilaku berbeda.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32B4D"/>
                </a:solidFill>
                <a:latin typeface="Calibri"/>
              </a:rPr>
              <a:t>Fitur Utama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78024"/>
            <a:ext cx="109728" cy="10972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Autentikasi (login / logout)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62072"/>
            <a:ext cx="109728" cy="10972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Katalog produk + PDP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09728" cy="10972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Sorting (nama / harga)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30168"/>
            <a:ext cx="109728" cy="10972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753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Keranjang &amp; badge 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14216"/>
            <a:ext cx="109728" cy="10972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Checkout 3 langkah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98264"/>
            <a:ext cx="109728" cy="10972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Footer &amp; social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32B4D"/>
                </a:solidFill>
                <a:latin typeface="Calibri"/>
              </a:rPr>
              <a:t>Akun Uji (password: secret_sauce)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23160"/>
            <a:ext cx="2852928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Username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2423160"/>
            <a:ext cx="2633472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Perilaku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734056"/>
            <a:ext cx="2852928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standard_user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34056"/>
            <a:ext cx="2633472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Normal /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035808"/>
            <a:ext cx="2852928" cy="301752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locked_out_user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2288" y="3035808"/>
            <a:ext cx="2633472" cy="301752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Diblokir saat login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337560"/>
            <a:ext cx="2852928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problem_user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62288" y="3337560"/>
            <a:ext cx="2633472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Bug UI &amp; fungsi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39312"/>
            <a:ext cx="2852928" cy="301752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performance_glitch_user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2288" y="3639312"/>
            <a:ext cx="2633472" cy="301752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Loading lambat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941064"/>
            <a:ext cx="2852928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error_user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2288" y="3941064"/>
            <a:ext cx="2633472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Error saat checkout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242816"/>
            <a:ext cx="2852928" cy="301752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visual_user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62288" y="4242816"/>
            <a:ext cx="2633472" cy="301752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Anomali visual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Scope &amp; Strategi Pengujian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5 modul diuji • pendekatan black-box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486400" cy="45720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IN-SCOPE (5 MODUL)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Login &amp; autentikasi (semua role)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Home page: katalog, sorting, menu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Cart: add/remove, badge, checkout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Checkout: info, overview,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Footer: social links, ToS/Privacy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5486400" cy="45720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OUT-OF-SCOPE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9659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659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Load / performance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4231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231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Security / penetration testing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8803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Pengujian API / 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337560"/>
            <a:ext cx="5486400" cy="38404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37560"/>
            <a:ext cx="5212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•  Otomasi end-to-end penuh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111556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32B4D"/>
                </a:solidFill>
                <a:latin typeface="Calibri"/>
              </a:rPr>
              <a:t>Pendekatan: </a:t>
            </a:r>
            <a:r>
              <a:rPr sz="1300" b="0">
                <a:solidFill>
                  <a:srgbClr val="1A1A2E"/>
                </a:solidFill>
                <a:latin typeface="Calibri"/>
              </a:rPr>
              <a:t>Black-box manual testing oleh tim (Zaki &amp; Galih) lintas role &amp; device, termasuk skenario positif, negatif, edge case, dan responsivitas.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32B4D"/>
                </a:solidFill>
                <a:latin typeface="Calibri"/>
              </a:rPr>
              <a:t>Status dipakai: </a:t>
            </a:r>
            <a:r>
              <a:rPr sz="1300" b="0">
                <a:solidFill>
                  <a:srgbClr val="1A1A2E"/>
                </a:solidFill>
                <a:latin typeface="Calibri"/>
              </a:rPr>
              <a:t>PASS  •  FAIL  •  (Bug: Opened)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Test Case Summary per Modul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94 test case • SauceDemo (Test Cases).xlsx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587398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Modul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4598" y="1325880"/>
            <a:ext cx="1020470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5068" y="1325880"/>
            <a:ext cx="1020470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5538" y="1325880"/>
            <a:ext cx="1020470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6008" y="1325880"/>
            <a:ext cx="6689750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Test Case yang FAIL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158739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44598" y="163677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39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5068" y="163677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5538" y="163677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6008" y="1636776"/>
            <a:ext cx="668975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TC-LP-026 (account lockout, semua role)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9696"/>
            <a:ext cx="1587398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Home 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4598" y="213969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5068" y="213969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85538" y="213969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6008" y="2139696"/>
            <a:ext cx="668975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TC-MP-001, 003, 013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42616"/>
            <a:ext cx="158739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Cart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44598" y="264261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5068" y="264261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5538" y="264261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6008" y="2642616"/>
            <a:ext cx="668975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TC-CP-006, 008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45536"/>
            <a:ext cx="1587398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44598" y="314553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5068" y="314553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85538" y="314553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06008" y="3145536"/>
            <a:ext cx="668975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TC-CKO-004, 007, 008, 009, 015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48456"/>
            <a:ext cx="158739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Footer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44598" y="364845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5068" y="364845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85538" y="3648456"/>
            <a:ext cx="102047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06008" y="3648456"/>
            <a:ext cx="668975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TC-F-007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51376"/>
            <a:ext cx="1587398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TOTAL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44598" y="415137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5068" y="415137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82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85538" y="4151376"/>
            <a:ext cx="102047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150" b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06008" y="4151376"/>
            <a:ext cx="6689750" cy="50292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150" b="0">
                <a:solidFill>
                  <a:srgbClr val="1A1A2E"/>
                </a:solidFill>
                <a:latin typeface="Calibri"/>
              </a:rPr>
              <a:t>12 bug dilaporkan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32B4D"/>
                </a:solidFill>
                <a:latin typeface="Calibri"/>
              </a:rPr>
              <a:t>Pass Rate keseluruhan: </a:t>
            </a:r>
            <a:r>
              <a:rPr sz="1500" b="1">
                <a:solidFill>
                  <a:srgbClr val="1E8E3E"/>
                </a:solidFill>
                <a:latin typeface="Calibri"/>
              </a:rPr>
              <a:t>87.2%  (82 / 94)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32B4D"/>
                </a:solidFill>
                <a:latin typeface="Calibri"/>
              </a:rPr>
              <a:t>Catatan: </a:t>
            </a:r>
            <a:r>
              <a:rPr sz="1200" b="0">
                <a:solidFill>
                  <a:srgbClr val="1A1A2E"/>
                </a:solidFill>
                <a:latin typeface="Calibri"/>
              </a:rPr>
              <a:t>Modul Login diuji untuk 6 role (39 case). Kegagalan terbesar di Checkout (5); test account-lockout digabung jadi 1 (TC-LP-026) karena identik antar-role.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Test Case Terpenting (PASS &amp; FAIL)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13 case prioritas — alur inti + bug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491843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TC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7603" y="1261872"/>
            <a:ext cx="1147572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Modul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5175" y="1261872"/>
            <a:ext cx="3901744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Skenario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919" y="1261872"/>
            <a:ext cx="3557473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Expected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64392" y="1261872"/>
            <a:ext cx="1377086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727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TC-LP-001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7603" y="15727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5175" y="15727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Login valid (standard_user)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6919" y="15727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Masuk ke halaman Products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64392" y="15727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15668"/>
            <a:ext cx="149184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TC-LP-004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57603" y="1915668"/>
            <a:ext cx="1147572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5175" y="1915668"/>
            <a:ext cx="3901744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Login locked_out_user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6919" y="1915668"/>
            <a:ext cx="355747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Tampil pesan 'locked out'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4392" y="1915668"/>
            <a:ext cx="1377086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585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TC-LP-003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7603" y="22585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Login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5175" y="22585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Logout via burger menu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6919" y="22585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Kembali ke halaman login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64392" y="22585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01468"/>
            <a:ext cx="149184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TC-MP-006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57603" y="2601468"/>
            <a:ext cx="1147572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Home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05175" y="2601468"/>
            <a:ext cx="3901744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Sorting Price (low to high)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6919" y="2601468"/>
            <a:ext cx="355747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Produk terurut harga menaik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64392" y="2601468"/>
            <a:ext cx="1377086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443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TC-CP-001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7603" y="29443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Cart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05175" y="29443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Add item ke keranjang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6919" y="29443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Item masuk, badge update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64392" y="29443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87268"/>
            <a:ext cx="149184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TC-CKO-002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57603" y="3287268"/>
            <a:ext cx="1147572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05175" y="3287268"/>
            <a:ext cx="3901744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Isi info checkout valid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6919" y="3287268"/>
            <a:ext cx="355747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Lanjut ke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4392" y="3287268"/>
            <a:ext cx="1377086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301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TC-CKO-013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57603" y="36301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05175" y="36301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Pesan sukses order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6919" y="36301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'Thank you for your order!'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64392" y="36301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1E8E3E"/>
                </a:solidFill>
                <a:latin typeface="Calibri"/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973068"/>
            <a:ext cx="149184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TC-CP-008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57603" y="3973068"/>
            <a:ext cx="1147572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Cart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05175" y="3973068"/>
            <a:ext cx="3901744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Tambah item lebih dari 1  (Bug #2)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6919" y="3973068"/>
            <a:ext cx="355747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Qty item bisa bertambah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4392" y="3973068"/>
            <a:ext cx="1377086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D93A3A"/>
                </a:solidFill>
                <a:latin typeface="Calibri"/>
              </a:rPr>
              <a:t>FAIL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3159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TC-CKO-008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57603" y="43159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05175" y="43159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Input alamat pengiriman  (Bug #9)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06919" y="43159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Ada field alamat pengiriman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64392" y="43159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D93A3A"/>
                </a:solidFill>
                <a:latin typeface="Calibri"/>
              </a:rPr>
              <a:t>FAIL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658868"/>
            <a:ext cx="149184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TC-CKO-009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57603" y="4658868"/>
            <a:ext cx="1147572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05175" y="4658868"/>
            <a:ext cx="3901744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Pilih metode pembayaran  (Bug #10)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6919" y="4658868"/>
            <a:ext cx="355747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Ada opsi metode bayar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64392" y="4658868"/>
            <a:ext cx="1377086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D93A3A"/>
                </a:solidFill>
                <a:latin typeface="Calibri"/>
              </a:rPr>
              <a:t>FAIL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0017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TC-LP-026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57603" y="50017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Login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05175" y="50017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Account lockout gagal berulang  (Bug #12)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06919" y="50017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Akun terkunci sementara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64392" y="50017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D93A3A"/>
                </a:solidFill>
                <a:latin typeface="Calibri"/>
              </a:rPr>
              <a:t>FAIL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344668"/>
            <a:ext cx="149184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TC-MP-013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57603" y="5344668"/>
            <a:ext cx="1147572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Home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05175" y="5344668"/>
            <a:ext cx="3901744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Menu 'All Items'  (Bug #5)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6919" y="5344668"/>
            <a:ext cx="3557473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Navigasi ke katalog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4392" y="5344668"/>
            <a:ext cx="1377086" cy="34290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D93A3A"/>
                </a:solidFill>
                <a:latin typeface="Calibri"/>
              </a:rPr>
              <a:t>FAIL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687568"/>
            <a:ext cx="149184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TC-F-007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57603" y="5687568"/>
            <a:ext cx="1147572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0">
                <a:solidFill>
                  <a:srgbClr val="1A1A2E"/>
                </a:solidFill>
                <a:latin typeface="Calibri"/>
              </a:rPr>
              <a:t>Footer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05175" y="5687568"/>
            <a:ext cx="3901744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Link ToS &amp; Privacy Policy  (Bug #6)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06919" y="5687568"/>
            <a:ext cx="3557473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Link bisa diklik &amp; berfungsi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64392" y="5687568"/>
            <a:ext cx="1377086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00" b="1">
                <a:solidFill>
                  <a:srgbClr val="D93A3A"/>
                </a:solidFill>
                <a:latin typeface="Calibri"/>
              </a:rPr>
              <a:t>FAIL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12648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32B4D"/>
                </a:solidFill>
                <a:latin typeface="Calibri"/>
              </a:rPr>
              <a:t>7 PASS (alur inti) + 6 FAIL (bug Priority-High &amp; keamanan) — dipilih dari 94 case.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Test Execution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Metrik &amp; status per modul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148840" cy="11887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488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Total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280160"/>
            <a:ext cx="2148840" cy="11887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371600"/>
            <a:ext cx="21488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84831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280160"/>
            <a:ext cx="2148840" cy="118872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71600"/>
            <a:ext cx="21488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084831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280160"/>
            <a:ext cx="2148840" cy="11887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371600"/>
            <a:ext cx="21488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87.2%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084831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Pass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280160"/>
            <a:ext cx="2148840" cy="118872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371600"/>
            <a:ext cx="21488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084831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7432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PASS / FAIL per Modul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Calibri"/>
              </a:rPr>
              <a:t>Login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246120"/>
            <a:ext cx="5027253" cy="2926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1813" y="3246120"/>
            <a:ext cx="132297" cy="29260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5550" y="320040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38 pass / 1 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03320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Calibri"/>
              </a:rPr>
              <a:t>Home Page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3749040"/>
            <a:ext cx="2513626" cy="2926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8186" y="3749040"/>
            <a:ext cx="396889" cy="29260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6515" y="37033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19 pass / 3 fail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06240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Calibri"/>
              </a:rPr>
              <a:t>Cart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4251960"/>
            <a:ext cx="1322961" cy="2926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17521" y="4251960"/>
            <a:ext cx="264593" cy="29260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73554" y="420624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10 pass / 2 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709160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4560" y="4754880"/>
            <a:ext cx="1322961" cy="2926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17521" y="4754880"/>
            <a:ext cx="661481" cy="29260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442" y="470916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10 pass / 5 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12080"/>
            <a:ext cx="16459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Calibri"/>
              </a:rPr>
              <a:t>Footer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5257800"/>
            <a:ext cx="661480" cy="2926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56040" y="5257800"/>
            <a:ext cx="132297" cy="29260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79777" y="521208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372"/>
                </a:solidFill>
                <a:latin typeface="Calibri"/>
              </a:rPr>
              <a:t>5 pass / 1 fail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Bug Report — 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12 bug • SauceDemo (Bug Report).xlsx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97480" cy="114300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6974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Total Bug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697480" cy="11430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6974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84831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Opened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2697480" cy="11430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26974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84831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Severity 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2697480" cy="114300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71600"/>
            <a:ext cx="26974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084831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Priority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Distribusi Severity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54680"/>
            <a:ext cx="3236976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39896" y="3154680"/>
            <a:ext cx="2157984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Jumlah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65576"/>
            <a:ext cx="323697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D93A3A"/>
                </a:solidFill>
                <a:latin typeface="Calibri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9896" y="3465576"/>
            <a:ext cx="2157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31336"/>
            <a:ext cx="3236976" cy="36576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9896" y="3831336"/>
            <a:ext cx="2157984" cy="36576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97096"/>
            <a:ext cx="323697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39896" y="4197096"/>
            <a:ext cx="2157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62856"/>
            <a:ext cx="3236976" cy="36576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D93A3A"/>
                </a:solidFill>
                <a:latin typeface="Calibri"/>
              </a:rPr>
              <a:t>Critical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39896" y="4562856"/>
            <a:ext cx="2157984" cy="36576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7432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Distribusi 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154680"/>
            <a:ext cx="3236976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92056" y="3154680"/>
            <a:ext cx="2157984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Jumlah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465576"/>
            <a:ext cx="323697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D93A3A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92056" y="3465576"/>
            <a:ext cx="2157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831336"/>
            <a:ext cx="3236976" cy="36576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2056" y="3831336"/>
            <a:ext cx="2157984" cy="365760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197096"/>
            <a:ext cx="323697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92056" y="4197096"/>
            <a:ext cx="215798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32B4D"/>
                </a:solidFill>
                <a:latin typeface="Calibri"/>
              </a:rPr>
              <a:t>Catatan: </a:t>
            </a:r>
            <a:r>
              <a:rPr sz="1200" b="0">
                <a:solidFill>
                  <a:srgbClr val="1A1A2E"/>
                </a:solidFill>
                <a:latin typeface="Calibri"/>
              </a:rPr>
              <a:t>Tidak ada bug Critical/High-severity. Semua 12 bug masih ber-status Opened. 3 bug Priority-High menyangkut alur transaksi inti (lihat slide berikut).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Daftar Bug (12)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Bug ID • Severity • Priority • Judul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33856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1056" y="1280160"/>
            <a:ext cx="1814169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5225" y="1280160"/>
            <a:ext cx="1814169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9394" y="1280160"/>
            <a:ext cx="6576364" cy="310896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Judul Bug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91056"/>
            <a:ext cx="113385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1056" y="1591056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5225" y="1591056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9394" y="1591056"/>
            <a:ext cx="6576364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No message when cart is empty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1133856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1056" y="1965960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5225" y="1965960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D93A3A"/>
                </a:solidFill>
                <a:latin typeface="Calibri"/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9394" y="1965960"/>
            <a:ext cx="6576364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User cannot add an item more than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40864"/>
            <a:ext cx="113385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91056" y="2340864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5225" y="2340864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9394" y="2340864"/>
            <a:ext cx="6576364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Product name format wrong (T-Shirt Red)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15768"/>
            <a:ext cx="1133856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91056" y="2715768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5225" y="2715768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9394" y="2715768"/>
            <a:ext cx="6576364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Product description format wrong (Backpack)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90672"/>
            <a:ext cx="113385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91056" y="3090672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5225" y="3090672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9394" y="3090672"/>
            <a:ext cx="6576364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'All Items' menu label does nothing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65576"/>
            <a:ext cx="1133856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91056" y="3465576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5225" y="3465576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9394" y="3465576"/>
            <a:ext cx="6576364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ToS &amp; Privacy Policy links not clickable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113385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91056" y="3840480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5225" y="3840480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9394" y="3840480"/>
            <a:ext cx="6576364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Checkout accepts invalid inputs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15384"/>
            <a:ext cx="1133856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91056" y="4215384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5225" y="4215384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9394" y="4215384"/>
            <a:ext cx="6576364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Shipment serial same for multiple orders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90288"/>
            <a:ext cx="113385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91056" y="4590288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5225" y="4590288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D93A3A"/>
                </a:solidFill>
                <a:latin typeface="Calibri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9394" y="4590288"/>
            <a:ext cx="6576364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Delivery address field missing in checkout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65192"/>
            <a:ext cx="1133856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91056" y="4965192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5225" y="4965192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D93A3A"/>
                </a:solidFill>
                <a:latin typeface="Calibri"/>
              </a:rPr>
              <a:t>High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9394" y="4965192"/>
            <a:ext cx="6576364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Payment method selection missing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340096"/>
            <a:ext cx="113385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91056" y="5340096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05225" y="5340096"/>
            <a:ext cx="1814169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9394" y="5340096"/>
            <a:ext cx="6576364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Checkout allowed with empty cart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715000"/>
            <a:ext cx="1133856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91056" y="5715000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5A6372"/>
                </a:solidFill>
                <a:latin typeface="Calibri"/>
              </a:rPr>
              <a:t>Low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05225" y="5715000"/>
            <a:ext cx="1814169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ctr"/>
            <a:r>
              <a:rPr sz="1050" b="1">
                <a:solidFill>
                  <a:srgbClr val="E08A1E"/>
                </a:solidFill>
                <a:latin typeface="Calibri"/>
              </a:rPr>
              <a:t>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9394" y="5715000"/>
            <a:ext cx="6576364" cy="374904"/>
          </a:xfrm>
          <a:prstGeom prst="rect">
            <a:avLst/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50800" tIns="12700" bIns="12700"/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Account not locked after failed logins (all roles)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Bug Priority-High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Menyangkut alur transaksi inti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4846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64008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4747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3DDC84"/>
                </a:solidFill>
                <a:latin typeface="Calibri"/>
              </a:rPr>
              <a:t>BUG #2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Tidak bisa menambah item &gt;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1691640" cy="27432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84248"/>
            <a:ext cx="1691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Severity: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984248"/>
            <a:ext cx="1463040" cy="27432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984248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Priority: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77440"/>
            <a:ext cx="3419855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8E3E"/>
                </a:solidFill>
                <a:latin typeface="Calibri"/>
              </a:rPr>
              <a:t>Expected: </a:t>
            </a:r>
            <a:r>
              <a:rPr sz="1050" b="0">
                <a:solidFill>
                  <a:srgbClr val="1A1A2E"/>
                </a:solidFill>
                <a:latin typeface="Calibri"/>
              </a:rPr>
              <a:t>Kuantitas item dapat ditambah lebih dari 1.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D93A3A"/>
                </a:solidFill>
                <a:latin typeface="Calibri"/>
              </a:rPr>
              <a:t>Actual: </a:t>
            </a:r>
            <a:r>
              <a:rPr sz="1050" b="0">
                <a:solidFill>
                  <a:srgbClr val="1A1A2E"/>
                </a:solidFill>
                <a:latin typeface="Calibri"/>
              </a:rPr>
              <a:t>User tidak dapat menambah lebih dari 1 tiap item.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234440"/>
            <a:ext cx="3749039" cy="4846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34440"/>
            <a:ext cx="3749039" cy="64008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80160"/>
            <a:ext cx="34747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3DDC84"/>
                </a:solidFill>
                <a:latin typeface="Calibri"/>
              </a:rPr>
              <a:t>BUG #9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Field alamat pengiriman hilang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984248"/>
            <a:ext cx="1691640" cy="274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84248"/>
            <a:ext cx="1691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Severity: 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984248"/>
            <a:ext cx="1463040" cy="27432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984248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Priority: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377440"/>
            <a:ext cx="3419855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8E3E"/>
                </a:solidFill>
                <a:latin typeface="Calibri"/>
              </a:rPr>
              <a:t>Expected: </a:t>
            </a:r>
            <a:r>
              <a:rPr sz="1050" b="0">
                <a:solidFill>
                  <a:srgbClr val="1A1A2E"/>
                </a:solidFill>
                <a:latin typeface="Calibri"/>
              </a:rPr>
              <a:t>Sistem mengizinkan input &amp; review alamat pengiriman.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D93A3A"/>
                </a:solidFill>
                <a:latin typeface="Calibri"/>
              </a:rPr>
              <a:t>Actual: </a:t>
            </a:r>
            <a:r>
              <a:rPr sz="1050" b="0">
                <a:solidFill>
                  <a:srgbClr val="1A1A2E"/>
                </a:solidFill>
                <a:latin typeface="Calibri"/>
              </a:rPr>
              <a:t>Tidak ada input field untuk delivery address.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234440"/>
            <a:ext cx="3657600" cy="4846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234440"/>
            <a:ext cx="3657600" cy="64008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80160"/>
            <a:ext cx="3383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3DDC84"/>
                </a:solidFill>
                <a:latin typeface="Calibri"/>
              </a:rPr>
              <a:t>BUG #10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Pemilihan metode bayar hilang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984248"/>
            <a:ext cx="1691640" cy="274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984248"/>
            <a:ext cx="1691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Severity: 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1984248"/>
            <a:ext cx="1463040" cy="27432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984248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Priority: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377440"/>
            <a:ext cx="3328416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1E8E3E"/>
                </a:solidFill>
                <a:latin typeface="Calibri"/>
              </a:rPr>
              <a:t>Expected: </a:t>
            </a:r>
            <a:r>
              <a:rPr sz="1050" b="0">
                <a:solidFill>
                  <a:srgbClr val="1A1A2E"/>
                </a:solidFill>
                <a:latin typeface="Calibri"/>
              </a:rPr>
              <a:t>Sistem mengizinkan pemilihan metode pembayaran.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D93A3A"/>
                </a:solidFill>
                <a:latin typeface="Calibri"/>
              </a:rPr>
              <a:t>Actual: </a:t>
            </a:r>
            <a:r>
              <a:rPr sz="1050" b="0">
                <a:solidFill>
                  <a:srgbClr val="1A1A2E"/>
                </a:solidFill>
                <a:latin typeface="Calibri"/>
              </a:rPr>
              <a:t>Tidak ada opsi pemilihan payment method.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Analisis Kualitas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3DDC84"/>
                </a:solidFill>
                <a:latin typeface="Calibri"/>
              </a:rPr>
              <a:t>Defect kritis • dampak • risiko • retest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201400" cy="10789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09728" cy="1078992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7899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Defect Paling Kritis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Bug #9 (alamat pengiriman) &amp; #10 (metode bayar) — Priority High. Untuk produk e-commerce nyata, ketiadaan keduanya membuat transaksi tidak lengkap.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87168"/>
            <a:ext cx="11201400" cy="10789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109728" cy="1078992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107899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Dampak ke Pengguna / Bisnis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Order tak bisa diselesaikan dengan benar (tanpa bayar/alamat). Bug #2 (qty &gt;1) menurunkan nilai pesanan. Account-lockout absen = risiko keamanan brute-force.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94176"/>
            <a:ext cx="11201400" cy="10789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694176"/>
            <a:ext cx="109728" cy="1078992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107899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Risiko jika Tetap Dirilis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Kehilangan penjualan &amp; data pengiriman, kelemahan keamanan login, menurunnya kepercayaan. Mayoritas severity Low, namun celah fungsional inti tetap 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901184"/>
            <a:ext cx="11201400" cy="107899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901184"/>
            <a:ext cx="109728" cy="1078992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92624"/>
            <a:ext cx="1078992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132B4D"/>
                </a:solidFill>
                <a:latin typeface="Calibri"/>
              </a:rPr>
              <a:t>Test Case untuk Retesting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Semua 17 case FAIL setelah perbaikan: prioritas Checkout (TC-CKO-004/007/008/009/015) &amp; Login lockout (TC-LP-026…031).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3DDC84"/>
                </a:solidFill>
                <a:latin typeface="Calibri"/>
              </a:rPr>
              <a:t>RELEASE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Keputusan Rilis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CONDITIONAL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6070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Pass rate 87.2% &amp; tanpa bug Critical — layak rilis SETELAH syarat berikut: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Perbaiki 3 bug Priority-High: #2 (qty), #9 (alamat), #10 (pembayaran).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Perbaiki celah keamanan account-lockout (Bug #12).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Bug severity Low lainnya boleh fast-follow patch.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RETEST seluruh 17 case FAIL sebelum go-live.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Pengujian Perangkat Lunak  •  Studi Kasus: SauceDemo  •  Sumber: Test Cases &amp; Bug Report (.xlsx)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3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08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3DDC84"/>
                </a:solidFill>
                <a:latin typeface="Calibri"/>
              </a:rPr>
              <a:t>Studi Kasus Pengujian Perangkat Lunak — SauceDemo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B8C4D6"/>
                </a:solidFill>
                <a:latin typeface="Calibri"/>
              </a:rPr>
              <a:t>94 Test Case  •  82 PASS / 12 FAIL  •  12 Bug  •  Keputusan: Conditional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8C4D6"/>
                </a:solidFill>
                <a:latin typeface="Calibri"/>
              </a:rPr>
              <a:t>Tim: Zaki &amp; Galih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